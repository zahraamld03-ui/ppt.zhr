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Nunito"/>
      <ns0:bold ns1:id="rIdFont14"/>
      <ns0:regular ns1:id="rIdFont15"/>
    </ns0:embeddedFont>
    <ns0:embeddedFont>
      <ns0:font typeface="Fredoka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73f507ec-727d-4b4f-9e1c-b7011c7e211a.fntdata" /><ns0:Relationship Id="rIdFont15" Type="http://schemas.openxmlformats.org/officeDocument/2006/relationships/font" Target="fonts/1a003220-c3d9-42d9-8c59-c88cb3662632.fntdata" /><ns0:Relationship Id="rIdFont16" Type="http://schemas.openxmlformats.org/officeDocument/2006/relationships/font" Target="fonts/ddc656bb-e731-430d-a0de-5da1b339895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09700"/>
            <a:ext cx="10668000" cy="4038600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38100">
            <a:solidFill>
              <a:srgbClr val="FFB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719" y="1905000"/>
            <a:ext cx="367278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819" y="1943100"/>
            <a:ext cx="3596580" cy="297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2848867"/>
            <a:ext cx="7080963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Fredoka"/>
              </a:rPr>
              <a:t>TUGAS 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570833"/>
            <a:ext cx="674377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7209B7"/>
                </a:solidFill>
                <a:latin typeface="Nunito"/>
              </a:rPr>
              <a:t>Mengenal Repository Spoon-Knife GitHub 🥄🔪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989933"/>
            <a:ext cx="549026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C757D"/>
                </a:solidFill>
                <a:latin typeface="Nunito"/>
              </a:rPr>
              <a:t>Panduan santai &amp; ramah pemula untuk memahami proyek latihan resmi dari GitHub! 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1025"/>
            <a:ext cx="752475" cy="295275"/>
          </a:xfrm>
          <a:prstGeom prst="roundRect">
            <a:avLst>
              <a:gd name="adj" fmla="val 50000"/>
            </a:avLst>
          </a:prstGeom>
          <a:solidFill>
            <a:srgbClr val="DB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76500"/>
            <a:ext cx="3378249" cy="2562225"/>
          </a:xfrm>
          <a:prstGeom prst="roundRect">
            <a:avLst>
              <a:gd name="adj" fmla="val 10408"/>
            </a:avLst>
          </a:prstGeom>
          <a:solidFill>
            <a:srgbClr val="FFFFFF"/>
          </a:solidFill>
          <a:ln w="28575">
            <a:solidFill>
              <a:srgbClr val="489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476500"/>
            <a:ext cx="3378249" cy="2562225"/>
          </a:xfrm>
          <a:prstGeom prst="roundRect">
            <a:avLst>
              <a:gd name="adj" fmla="val 10408"/>
            </a:avLst>
          </a:prstGeom>
          <a:solidFill>
            <a:srgbClr val="FFFFFF"/>
          </a:solidFill>
          <a:ln w="28575">
            <a:solidFill>
              <a:srgbClr val="7209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476500"/>
            <a:ext cx="3378249" cy="2562225"/>
          </a:xfrm>
          <a:prstGeom prst="roundRect">
            <a:avLst>
              <a:gd name="adj" fmla="val 10408"/>
            </a:avLst>
          </a:prstGeom>
          <a:solidFill>
            <a:srgbClr val="FFFFFF"/>
          </a:solidFill>
          <a:ln w="28575">
            <a:solidFill>
              <a:srgbClr val="F725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809875"/>
            <a:ext cx="5715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324" y="2809875"/>
            <a:ext cx="5715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274" y="2809875"/>
            <a:ext cx="5715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2962275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724" y="2962275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336" y="2962275"/>
            <a:ext cx="3333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8175"/>
            <a:ext cx="5429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361EE"/>
                </a:solidFill>
                <a:latin typeface="Fredoka"/>
              </a:rPr>
              <a:t>BAB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8775" y="533400"/>
            <a:ext cx="4413051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3F37C9"/>
                </a:solidFill>
                <a:latin typeface="Fredoka"/>
              </a:rPr>
              <a:t>📦 Apa Itu Repository?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571875"/>
            <a:ext cx="35588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B2D42"/>
                </a:solidFill>
                <a:latin typeface="Fredoka"/>
              </a:rPr>
              <a:t>Wadah Berkas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3933825"/>
            <a:ext cx="28067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Tempat penyimpanan seluruh berkas kode, gambar, dan dokumentasi proyek.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0324" y="3571875"/>
            <a:ext cx="35588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B2D42"/>
                </a:solidFill>
                <a:latin typeface="Fredoka"/>
              </a:rPr>
              <a:t>Pencatat Riwayat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0324" y="3933825"/>
            <a:ext cx="28067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Menyimpan setiap jejak perubahan kode dari waktu ke waktu secara rapi.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274" y="3571875"/>
            <a:ext cx="35588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B2D42"/>
                </a:solidFill>
                <a:latin typeface="Fredoka"/>
              </a:rPr>
              <a:t>Pusat Kolaborasi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274" y="3933825"/>
            <a:ext cx="28067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Memungkinkan banyak pemrogram bekerja bersama dalam satu tempat terpadu.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1025"/>
            <a:ext cx="771525" cy="2952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57487"/>
            <a:ext cx="5181600" cy="2000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628900"/>
            <a:ext cx="5181600" cy="2257425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 w="285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5375" y="3090862"/>
            <a:ext cx="1743075" cy="276225"/>
          </a:xfrm>
          <a:prstGeom prst="roundRect">
            <a:avLst>
              <a:gd name="adj" fmla="val 48275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1775" y="2962275"/>
            <a:ext cx="2438400" cy="276225"/>
          </a:xfrm>
          <a:prstGeom prst="roundRect">
            <a:avLst>
              <a:gd name="adj" fmla="val 48275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8175"/>
            <a:ext cx="5619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Fredoka"/>
              </a:rPr>
              <a:t>BAB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7825" y="533400"/>
            <a:ext cx="8338542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5803D"/>
                </a:solidFill>
                <a:latin typeface="Fredoka"/>
              </a:rPr>
              <a:t>🌐 Open Source &amp; Hubungan Kolaborasinya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148012"/>
            <a:ext cx="1533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Fredoka"/>
              </a:rPr>
              <a:t>APA ITU OPEN SOURCE?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519487"/>
            <a:ext cx="59257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4532D"/>
                </a:solidFill>
                <a:latin typeface="Fredoka"/>
              </a:rPr>
              <a:t>Kode Terbuka Bebas 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910012"/>
            <a:ext cx="46101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Nunito"/>
              </a:rPr>
              <a:t>Perangkat lunak yang kodenya boleh dilihat, dipelajari, dan diubah oleh siapa saja di seluruh dunia.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4175" y="3019425"/>
            <a:ext cx="2228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Fredoka"/>
              </a:rPr>
              <a:t>KOLABORASI DENGAN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390900"/>
            <a:ext cx="56102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4532D"/>
                </a:solidFill>
                <a:latin typeface="Fredoka"/>
              </a:rPr>
              <a:t>Jembatan Gotong Royong 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781425"/>
            <a:ext cx="46101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Nunito"/>
              </a:rPr>
              <a:t>Repository terbuka adalah "rumah" di mana komunitas global menyumbang ide dan memperbaiki kode bersama.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1025"/>
            <a:ext cx="771525" cy="2952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14612"/>
            <a:ext cx="3378249" cy="22860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85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614612"/>
            <a:ext cx="3378249" cy="22860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85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614612"/>
            <a:ext cx="3378249" cy="22860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85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947987"/>
            <a:ext cx="5715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324" y="2947987"/>
            <a:ext cx="5715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274" y="2947987"/>
            <a:ext cx="5715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437" y="3100387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674" y="3100387"/>
            <a:ext cx="3048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7674" y="3100387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38175"/>
            <a:ext cx="5619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Fredoka"/>
              </a:rPr>
              <a:t>BAB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7825" y="533400"/>
            <a:ext cx="7163395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B45309"/>
                </a:solidFill>
                <a:latin typeface="Fredoka"/>
              </a:rPr>
              <a:t>🎯 Tujuan Utama Proyek Spoon-Knife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709987"/>
            <a:ext cx="35588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B2D42"/>
                </a:solidFill>
                <a:latin typeface="Fredoka"/>
              </a:rPr>
              <a:t>Latihan Bebas Risiko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052887"/>
            <a:ext cx="28067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Tempat eksperimen resmi buatan GitHub khusus pemula.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0324" y="3709987"/>
            <a:ext cx="35588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B2D42"/>
                </a:solidFill>
                <a:latin typeface="Fredoka"/>
              </a:rPr>
              <a:t>Struktur Super Simpel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0324" y="4052887"/>
            <a:ext cx="28067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Hanya berisi file HTML &amp; CSS sederhana tanpa ribet.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274" y="3709987"/>
            <a:ext cx="35588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B2D42"/>
                </a:solidFill>
                <a:latin typeface="Fredoka"/>
              </a:rPr>
              <a:t>Ruang Bermain Aman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274" y="4052887"/>
            <a:ext cx="28067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Coba semua fitur tanpa takut merusak kode asli!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1025"/>
            <a:ext cx="771525" cy="295275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67012"/>
            <a:ext cx="3403550" cy="19812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285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67012"/>
            <a:ext cx="3403550" cy="19812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67012"/>
            <a:ext cx="3403550" cy="19812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285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5375" y="3100387"/>
            <a:ext cx="723900" cy="276225"/>
          </a:xfrm>
          <a:prstGeom prst="roundRect">
            <a:avLst>
              <a:gd name="adj" fmla="val 41379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7525" y="3100387"/>
            <a:ext cx="752475" cy="276225"/>
          </a:xfrm>
          <a:prstGeom prst="roundRect">
            <a:avLst>
              <a:gd name="adj" fmla="val 41379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59675" y="3100387"/>
            <a:ext cx="752475" cy="276225"/>
          </a:xfrm>
          <a:prstGeom prst="roundRect">
            <a:avLst>
              <a:gd name="adj" fmla="val 4137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8175"/>
            <a:ext cx="5619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A580C"/>
                </a:solidFill>
                <a:latin typeface="Fredoka"/>
              </a:rPr>
              <a:t>BAB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7825" y="533400"/>
            <a:ext cx="5475684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C2410C"/>
                </a:solidFill>
                <a:latin typeface="Fredoka"/>
              </a:rPr>
              <a:t>🚀 3 Langkah Mudah Belajar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3157537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Fredoka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529012"/>
            <a:ext cx="35920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B2D42"/>
                </a:solidFill>
                <a:latin typeface="Fredoka"/>
              </a:rPr>
              <a:t>Forking 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900487"/>
            <a:ext cx="2832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Salin repository ke dalam akun GitHub milikmu sendiri.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875" y="3157537"/>
            <a:ext cx="581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Fredoka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525" y="3529012"/>
            <a:ext cx="35920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B2D42"/>
                </a:solidFill>
                <a:latin typeface="Fredoka"/>
              </a:rPr>
              <a:t>Editing ✏️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525" y="3900487"/>
            <a:ext cx="2832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Ubah tampilan teks atau gaya sesuai selera kreasimu.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3025" y="3157537"/>
            <a:ext cx="581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Fredoka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675" y="3529012"/>
            <a:ext cx="35920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B2D42"/>
                </a:solidFill>
                <a:latin typeface="Fredoka"/>
              </a:rPr>
              <a:t>Pull Request 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675" y="3900487"/>
            <a:ext cx="2832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677D"/>
                </a:solidFill>
                <a:latin typeface="Nunito"/>
              </a:rPr>
              <a:t>Kirimkan hasil editanmu kembali ke proyek utama!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14500" y="1993106"/>
            <a:ext cx="8763000" cy="2871787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381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53050" y="2526506"/>
            <a:ext cx="1485900" cy="295275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57812" y="2583656"/>
            <a:ext cx="1476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Fredoka"/>
              </a:rPr>
              <a:t>💡 RANGKUMAN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50" y="3088481"/>
            <a:ext cx="9334500" cy="124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62"/>
              </a:lnSpc>
            </a:pPr>
            <a:r>
              <a:rPr b="1" sz="2250" i="0" u="none">
                <a:solidFill>
                  <a:srgbClr val="374151"/>
                </a:solidFill>
                <a:latin typeface="Fredoka"/>
              </a:rPr>
              <a:t>"Spoon-Knife adalah </a:t>
            </a:r>
            <a:r>
              <a:rPr b="1" sz="2250" i="0" u="none">
                <a:solidFill>
                  <a:srgbClr val="EC4899"/>
                </a:solidFill>
                <a:latin typeface="Fredoka"/>
              </a:rPr>
              <a:t>'taman bermain'</a:t>
            </a:r>
            <a:r>
              <a:rPr b="1" sz="2250" i="0" u="none">
                <a:solidFill>
                  <a:srgbClr val="374151"/>
                </a:solidFill>
                <a:latin typeface="Fredoka"/>
              </a:rPr>
              <a:t> resmi bagi pemula untuk menguasai </a:t>
            </a:r>
            <a:r>
              <a:rPr b="1" sz="2250" i="0" u="none">
                <a:solidFill>
                  <a:srgbClr val="3B82F6"/>
                </a:solidFill>
                <a:latin typeface="Fredoka"/>
              </a:rPr>
              <a:t>Fork</a:t>
            </a:r>
            <a:r>
              <a:rPr b="1" sz="2250" i="0" u="none">
                <a:solidFill>
                  <a:srgbClr val="374151"/>
                </a:solidFill>
                <a:latin typeface="Fredoka"/>
              </a:rPr>
              <a:t>, </a:t>
            </a:r>
            <a:r>
              <a:rPr b="1" sz="2250" i="0" u="none">
                <a:solidFill>
                  <a:srgbClr val="0F172A"/>
                </a:solidFill>
                <a:latin typeface="Fredoka"/>
              </a:rPr>
              <a:t>Edit</a:t>
            </a:r>
            <a:r>
              <a:rPr b="1" sz="2250" i="0" u="none">
                <a:solidFill>
                  <a:srgbClr val="374151"/>
                </a:solidFill>
                <a:latin typeface="Fredoka"/>
              </a:rPr>
              <a:t>, dan </a:t>
            </a:r>
            <a:r>
              <a:rPr b="1" sz="2250" i="0" u="none">
                <a:solidFill>
                  <a:srgbClr val="8B5CF6"/>
                </a:solidFill>
                <a:latin typeface="Fredoka"/>
              </a:rPr>
              <a:t>Pull Request</a:t>
            </a:r>
            <a:r>
              <a:rPr b="1" sz="2250" i="0" u="none">
                <a:solidFill>
                  <a:srgbClr val="374151"/>
                </a:solidFill>
                <a:latin typeface="Fredoka"/>
              </a:rPr>
              <a:t> dengan mudah dan menyenangkan! 🎉"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91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050256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32818"/>
                </a:solidFill>
                <a:latin typeface="Nunito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42987"/>
            <a:ext cx="5167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32818"/>
                </a:solidFill>
                <a:latin typeface="Nunito"/>
              </a:rPr>
              <a:t>https://template.canva.com/EAHSXT1piMM/1/0/800w-Pv1hJFNZLmg.jpg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62062"/>
            <a:ext cx="213121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32818"/>
                </a:solidFill>
                <a:latin typeface="Nuni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"/>
              </a:rPr>
              <a:t>www.canva.com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